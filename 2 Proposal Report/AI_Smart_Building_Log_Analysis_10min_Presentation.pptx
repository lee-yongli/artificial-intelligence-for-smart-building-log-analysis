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Stage weight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30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B556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4B5563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Import</c:v>
                </c:pt>
                <c:pt idx="1">
                  <c:v>Clean</c:v>
                </c:pt>
                <c:pt idx="2">
                  <c:v>Feature</c:v>
                </c:pt>
                <c:pt idx="3">
                  <c:v>Detect</c:v>
                </c:pt>
                <c:pt idx="4">
                  <c:v>Explain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4B5563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4B5563"/>
                </a:solidFill>
                <a:latin typeface="Calibri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4B5563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4B5563"/>
                </a:solidFill>
                <a:latin typeface="Calibri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1dcfb5d-9ca3-4f74-a37c-f3e33b747d28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Probability (%)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30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B556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9302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B5563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4B5563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No labels</c:v>
                </c:pt>
                <c:pt idx="1">
                  <c:v>Data quality</c:v>
                </c:pt>
                <c:pt idx="2">
                  <c:v>Integration</c:v>
                </c:pt>
                <c:pt idx="3">
                  <c:v>False positives</c:v>
                </c:pt>
                <c:pt idx="4">
                  <c:v>Synthetic fit</c:v>
                </c:pt>
                <c:pt idx="5">
                  <c:v>Data volume</c:v>
                </c:pt>
                <c:pt idx="6">
                  <c:v>Stability</c:v>
                </c:pt>
                <c:pt idx="7">
                  <c:v>Scope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80</c:v>
                </c:pt>
                <c:pt idx="1">
                  <c:v>70</c:v>
                </c:pt>
                <c:pt idx="2">
                  <c:v>65</c:v>
                </c:pt>
                <c:pt idx="3">
                  <c:v>65</c:v>
                </c:pt>
                <c:pt idx="4">
                  <c:v>60</c:v>
                </c:pt>
                <c:pt idx="5">
                  <c:v>50</c:v>
                </c:pt>
                <c:pt idx="6">
                  <c:v>45</c:v>
                </c:pt>
                <c:pt idx="7">
                  <c:v>40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4B5563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4B5563"/>
                </a:solidFill>
                <a:latin typeface="Calibri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4B5563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4B5563"/>
                </a:solidFill>
                <a:latin typeface="Calibri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4309326-50b3-427c-8dd7-b461b8833418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Teaching weeks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30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B556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4B5563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Confirm</c:v>
                </c:pt>
                <c:pt idx="1">
                  <c:v>Prepare</c:v>
                </c:pt>
                <c:pt idx="2">
                  <c:v>Detect</c:v>
                </c:pt>
                <c:pt idx="3">
                  <c:v>Evaluate</c:v>
                </c:pt>
                <c:pt idx="4">
                  <c:v>Handover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4B5563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4B5563"/>
                </a:solidFill>
                <a:latin typeface="Calibri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4B5563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4B5563"/>
                </a:solidFill>
                <a:latin typeface="Calibri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d804523-b99e-41cd-9227-2313c272316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metadata:title-kicker"/>
          <p:cNvSpPr txBox="1"/>
          <p:nvPr/>
        </p:nvSpPr>
        <p:spPr>
          <a:xfrm>
            <a:off x="731520" y="905256"/>
            <a:ext cx="4136746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1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| SMART FACILITIES SA | GROUP C262T-4201 D01</a:t>
            </a:r>
            <a:endParaRPr lang="en-US" sz="900" dirty="0"/>
          </a:p>
        </p:txBody>
      </p:sp>
      <p:sp>
        <p:nvSpPr>
          <p:cNvPr id="9" name="decorative:role-contract-accent:title:heading"/>
          <p:cNvSpPr/>
          <p:nvPr/>
        </p:nvSpPr>
        <p:spPr>
          <a:xfrm>
            <a:off x="457200" y="73152"/>
            <a:ext cx="954634" cy="411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slide-title:title"/>
          <p:cNvSpPr txBox="1"/>
          <p:nvPr/>
        </p:nvSpPr>
        <p:spPr>
          <a:xfrm>
            <a:off x="731520" y="1234440"/>
            <a:ext cx="5303520" cy="14401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AI Smart-Building Log Analysis</a:t>
            </a:r>
            <a:endParaRPr lang="en-US" sz="4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983230"/>
            <a:ext cx="4754880" cy="6507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anomaly detection for CU-BEMS data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Proposal cover and summary</a:t>
            </a:r>
            <a:endParaRPr lang="en-US" sz="900" dirty="0"/>
          </a:p>
        </p:txBody>
      </p:sp>
      <p:sp>
        <p:nvSpPr>
          <p:cNvPr id="14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Why AI is useful here</a:t>
            </a:r>
            <a:endParaRPr lang="en-US" sz="26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logs create a review burden.</a:t>
            </a:r>
            <a:endParaRPr lang="en-US" sz="1250" dirty="0"/>
          </a:p>
        </p:txBody>
      </p:sp>
      <p:sp>
        <p:nvSpPr>
          <p:cNvPr id="10" name="role-contract-slot:evidence:0"/>
          <p:cNvSpPr/>
          <p:nvPr/>
        </p:nvSpPr>
        <p:spPr>
          <a:xfrm>
            <a:off x="457200" y="1382268"/>
            <a:ext cx="4023360" cy="1176528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82268"/>
            <a:ext cx="54864" cy="11765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1491996"/>
            <a:ext cx="3694176" cy="2922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Operational scale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1857375"/>
            <a:ext cx="3694176" cy="6141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signals across floors and systems.</a:t>
            </a:r>
            <a:endParaRPr lang="en-US" sz="1500" dirty="0"/>
          </a:p>
        </p:txBody>
      </p:sp>
      <p:sp>
        <p:nvSpPr>
          <p:cNvPr id="14" name="role-contract-slot:evidence:1"/>
          <p:cNvSpPr/>
          <p:nvPr/>
        </p:nvSpPr>
        <p:spPr>
          <a:xfrm>
            <a:off x="4663440" y="1382268"/>
            <a:ext cx="4023360" cy="1176528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382268"/>
            <a:ext cx="54864" cy="1176528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28032" y="1491996"/>
            <a:ext cx="3694176" cy="2922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Context matters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28032" y="1857375"/>
            <a:ext cx="3694176" cy="6141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behaviour changes by time and location.</a:t>
            </a:r>
            <a:endParaRPr lang="en-US" sz="1500" dirty="0"/>
          </a:p>
        </p:txBody>
      </p:sp>
      <p:sp>
        <p:nvSpPr>
          <p:cNvPr id="18" name="role-contract-slot:evidence:2"/>
          <p:cNvSpPr/>
          <p:nvPr/>
        </p:nvSpPr>
        <p:spPr>
          <a:xfrm>
            <a:off x="457200" y="2705100"/>
            <a:ext cx="4023360" cy="1176528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05100"/>
            <a:ext cx="54864" cy="11765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2814828"/>
            <a:ext cx="3694176" cy="2922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Decision support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3180207"/>
            <a:ext cx="3694176" cy="6141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need evidence for human review.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Proposal pp. 2-5</a:t>
            </a:r>
            <a:endParaRPr lang="en-US" sz="900" dirty="0"/>
          </a:p>
        </p:txBody>
      </p:sp>
      <p:sp>
        <p:nvSpPr>
          <p:cNvPr id="24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supports investigation; it does not automate control.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CU-BEMS defines the research boundary</a:t>
            </a:r>
            <a:endParaRPr lang="en-US" sz="26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data, not a live deployment.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042111"/>
            <a:ext cx="2377440" cy="3109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1053084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role-contract-slot:evidence:0"/>
          <p:cNvSpPr/>
          <p:nvPr/>
        </p:nvSpPr>
        <p:spPr>
          <a:xfrm>
            <a:off x="457200" y="1382268"/>
            <a:ext cx="4023360" cy="1176528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382268"/>
            <a:ext cx="54864" cy="11765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1491996"/>
            <a:ext cx="3694176" cy="2922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7 floors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1857375"/>
            <a:ext cx="3694176" cy="6141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Minute-level records from a multi-floor academic office building.</a:t>
            </a:r>
            <a:endParaRPr lang="en-US" sz="1500" dirty="0"/>
          </a:p>
        </p:txBody>
      </p:sp>
      <p:sp>
        <p:nvSpPr>
          <p:cNvPr id="16" name="role-contract-slot:evidence:1"/>
          <p:cNvSpPr/>
          <p:nvPr/>
        </p:nvSpPr>
        <p:spPr>
          <a:xfrm>
            <a:off x="4663440" y="1382268"/>
            <a:ext cx="4023360" cy="1176528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382268"/>
            <a:ext cx="54864" cy="1176528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28032" y="1491996"/>
            <a:ext cx="3694176" cy="2922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18 months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28032" y="1857375"/>
            <a:ext cx="3694176" cy="6141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record spans July 2018 to December 2019.</a:t>
            </a:r>
            <a:endParaRPr lang="en-US" sz="1500" dirty="0"/>
          </a:p>
        </p:txBody>
      </p:sp>
      <p:sp>
        <p:nvSpPr>
          <p:cNvPr id="20" name="role-contract-slot:evidence:2"/>
          <p:cNvSpPr/>
          <p:nvPr/>
        </p:nvSpPr>
        <p:spPr>
          <a:xfrm>
            <a:off x="457200" y="2705100"/>
            <a:ext cx="4023360" cy="1176528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705100"/>
            <a:ext cx="54864" cy="11765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2814828"/>
            <a:ext cx="3694176" cy="2922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6 signal groups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180207"/>
            <a:ext cx="3694176" cy="6141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AC, lighting, plug load, temperature, humidity and illuminance.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Proposal pp. 2-5; Pipattanasomporn 2020</a:t>
            </a:r>
            <a:endParaRPr lang="en-US" sz="900" dirty="0"/>
          </a:p>
        </p:txBody>
      </p:sp>
      <p:sp>
        <p:nvSpPr>
          <p:cNvPr id="26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supports prototype research, but not every live-building scenario.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Scope stays analytical</a:t>
            </a:r>
            <a:endParaRPr lang="en-US" sz="26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first, production later.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043940"/>
            <a:ext cx="1508760" cy="2743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93976" y="1053084"/>
            <a:ext cx="6592824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role-contract-slot:comparison:option-0"/>
          <p:cNvSpPr/>
          <p:nvPr/>
        </p:nvSpPr>
        <p:spPr>
          <a:xfrm>
            <a:off x="457200" y="1382268"/>
            <a:ext cx="3950208" cy="2067763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382268"/>
            <a:ext cx="64008" cy="2067763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" y="2168500"/>
            <a:ext cx="1088136" cy="4953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In scope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801368" y="1528572"/>
            <a:ext cx="2459736" cy="177515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audit and preparation.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engineering.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Pattern and anomaly analysis.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Visualisation and prioritisation.</a:t>
            </a:r>
            <a:endParaRPr lang="en-US" sz="1500" dirty="0"/>
          </a:p>
        </p:txBody>
      </p:sp>
      <p:sp>
        <p:nvSpPr>
          <p:cNvPr id="16" name="role-contract-slot:comparison:option-1"/>
          <p:cNvSpPr/>
          <p:nvPr/>
        </p:nvSpPr>
        <p:spPr>
          <a:xfrm>
            <a:off x="4736592" y="1382268"/>
            <a:ext cx="3950208" cy="2067763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6592" y="1382268"/>
            <a:ext cx="64008" cy="2067763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82896" y="2058010"/>
            <a:ext cx="1088136" cy="7162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302C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1528572"/>
            <a:ext cx="2459736" cy="177515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24/7 production monitoring.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equipment control.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sensors or hardware.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Confirmed incident validation.</a:t>
            </a:r>
            <a:endParaRPr lang="en-US" sz="1500" dirty="0"/>
          </a:p>
        </p:txBody>
      </p:sp>
      <p:sp>
        <p:nvSpPr>
          <p:cNvPr id="20" name="role-contract-slot:comparison:verdict"/>
          <p:cNvSpPr/>
          <p:nvPr/>
        </p:nvSpPr>
        <p:spPr>
          <a:xfrm>
            <a:off x="1938528" y="3708502"/>
            <a:ext cx="5266944" cy="904646"/>
          </a:xfrm>
          <a:prstGeom prst="rect">
            <a:avLst/>
          </a:prstGeom>
          <a:solidFill>
            <a:srgbClr val="0B2545"/>
          </a:solidFill>
          <a:ln w="8255">
            <a:solidFill>
              <a:srgbClr val="C930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29968" y="3881171"/>
            <a:ext cx="5084064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This keeps the project feasible within ten teaching weeks.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Proposal pp. 5-6</a:t>
            </a:r>
            <a:endParaRPr lang="en-US" sz="900" dirty="0"/>
          </a:p>
        </p:txBody>
      </p:sp>
      <p:sp>
        <p:nvSpPr>
          <p:cNvPr id="24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990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A reproducible pipeline links data to evidence</a:t>
            </a:r>
            <a:endParaRPr lang="en-US" sz="26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120091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with audit trails.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115568" y="1877568"/>
            <a:ext cx="6912864" cy="1969618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graphicFrame>
        <p:nvGraphicFramePr>
          <p:cNvPr id="11" name="Editable chart: A reproducible pipeline links data to evidence" descr="Editable bar chart for A reproducible pipeline links data to evidence."/>
          <p:cNvGraphicFramePr/>
          <p:nvPr/>
        </p:nvGraphicFramePr>
        <p:xfrm>
          <a:off x="1225296" y="1969008"/>
          <a:ext cx="6693408" cy="1786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4066032"/>
            <a:ext cx="8229600" cy="54711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support:chart-register"/>
          <p:cNvSpPr txBox="1"/>
          <p:nvPr/>
        </p:nvSpPr>
        <p:spPr>
          <a:xfrm>
            <a:off x="548640" y="4136200"/>
            <a:ext cx="8046720" cy="40678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a research artifact, not only code.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Proposal pp. 2-6</a:t>
            </a:r>
            <a:endParaRPr lang="en-US" sz="900" dirty="0"/>
          </a:p>
        </p:txBody>
      </p:sp>
      <p:sp>
        <p:nvSpPr>
          <p:cNvPr id="16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990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Methods compare clarity with pattern sensitivity</a:t>
            </a:r>
            <a:endParaRPr lang="en-US" sz="26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120091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does not automatically mean better.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2342617"/>
          <a:ext cx="8229600" cy="1723415"/>
        </p:xfrm>
        <a:graphic>
          <a:graphicData uri="http://schemas.openxmlformats.org/drawingml/2006/table">
            <a:tbl>
              <a:tblPr/>
              <a:tblGrid>
                <a:gridCol w="2798064"/>
                <a:gridCol w="2962656"/>
                <a:gridCol w="2468880"/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anose="020B0703020202090204" pitchFamily="34" charset="0"/>
                          <a:ea typeface="Trebuchet MS" panose="020B0703020202090204" pitchFamily="34" charset="-122"/>
                          <a:cs typeface="Trebuchet MS" panose="020B0703020202090204" pitchFamily="34" charset="-120"/>
                        </a:rPr>
                        <a:t>Method family</a:t>
                      </a:r>
                      <a:endParaRPr lang="en-US" sz="1500" dirty="0">
                        <a:latin typeface="Trebuchet MS" panose="020B0703020202090204" pitchFamily="34" charset="0"/>
                        <a:ea typeface="Trebuchet MS" panose="020B0703020202090204" pitchFamily="34" charset="0"/>
                        <a:cs typeface="Trebuchet MS" panose="020B0703020202090204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anose="020B0703020202090204" pitchFamily="34" charset="0"/>
                          <a:ea typeface="Trebuchet MS" panose="020B0703020202090204" pitchFamily="34" charset="-122"/>
                          <a:cs typeface="Trebuchet MS" panose="020B0703020202090204" pitchFamily="34" charset="-120"/>
                        </a:rPr>
                        <a:t>Use</a:t>
                      </a:r>
                      <a:endParaRPr lang="en-US" sz="1500" dirty="0">
                        <a:latin typeface="Trebuchet MS" panose="020B0703020202090204" pitchFamily="34" charset="0"/>
                        <a:ea typeface="Trebuchet MS" panose="020B0703020202090204" pitchFamily="34" charset="0"/>
                        <a:cs typeface="Trebuchet MS" panose="020B0703020202090204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anose="020B0703020202090204" pitchFamily="34" charset="0"/>
                          <a:ea typeface="Trebuchet MS" panose="020B0703020202090204" pitchFamily="34" charset="-122"/>
                          <a:cs typeface="Trebuchet MS" panose="020B0703020202090204" pitchFamily="34" charset="-120"/>
                        </a:rPr>
                        <a:t>Caution</a:t>
                      </a:r>
                      <a:endParaRPr lang="en-US" sz="1500" dirty="0">
                        <a:latin typeface="Trebuchet MS" panose="020B0703020202090204" pitchFamily="34" charset="0"/>
                        <a:ea typeface="Trebuchet MS" panose="020B0703020202090204" pitchFamily="34" charset="0"/>
                        <a:cs typeface="Trebuchet MS" panose="020B0703020202090204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baselines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benchmark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be rigid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 ML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Richer pattern detection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tuning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1877568"/>
            <a:ext cx="8229600" cy="300914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12" name="metadata:table-index-label"/>
          <p:cNvSpPr txBox="1"/>
          <p:nvPr/>
        </p:nvSpPr>
        <p:spPr>
          <a:xfrm>
            <a:off x="566928" y="1950720"/>
            <a:ext cx="203911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2545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TABLE INDEX</a:t>
            </a:r>
            <a:endParaRPr lang="en-US" sz="900" dirty="0"/>
          </a:p>
        </p:txBody>
      </p:sp>
      <p:sp>
        <p:nvSpPr>
          <p:cNvPr id="13" name="metadata:table-index-detail"/>
          <p:cNvSpPr txBox="1"/>
          <p:nvPr/>
        </p:nvSpPr>
        <p:spPr>
          <a:xfrm>
            <a:off x="2697480" y="1969008"/>
            <a:ext cx="587959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rows  |  Method family · Use · Caution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4257523"/>
            <a:ext cx="8229600" cy="355625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4257523"/>
            <a:ext cx="64008" cy="355625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6" name="metadata:table-readout-label"/>
          <p:cNvSpPr txBox="1"/>
          <p:nvPr/>
        </p:nvSpPr>
        <p:spPr>
          <a:xfrm>
            <a:off x="621792" y="4330675"/>
            <a:ext cx="107899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10" dirty="0">
                <a:solidFill>
                  <a:srgbClr val="0B2545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READOUT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755648" y="4312387"/>
            <a:ext cx="6748272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chosen method should be stable, useful and explainable.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Proposal pp. 4-6, 13</a:t>
            </a:r>
            <a:endParaRPr lang="en-US" sz="900" dirty="0"/>
          </a:p>
        </p:txBody>
      </p:sp>
      <p:sp>
        <p:nvSpPr>
          <p:cNvPr id="20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Evaluation fits unlabeled anomaly data</a:t>
            </a:r>
            <a:endParaRPr lang="en-US" sz="26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candidates, not confirmed faults.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05308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21080"/>
            <a:ext cx="777240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382268"/>
            <a:ext cx="2551176" cy="1453896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382268"/>
            <a:ext cx="64008" cy="145389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05456" y="1537716"/>
            <a:ext cx="347472" cy="3780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01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1537716"/>
            <a:ext cx="1819656" cy="3780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Synthetic anomalies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2007169"/>
            <a:ext cx="2240280" cy="5410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controlled signal changes.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96412" y="1382268"/>
            <a:ext cx="2551176" cy="1453896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6412" y="1382268"/>
            <a:ext cx="64008" cy="1453896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44668" y="1537716"/>
            <a:ext cx="347472" cy="3780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9302C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02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451860" y="1537716"/>
            <a:ext cx="1819656" cy="3780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302C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Stability checks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451860" y="2007169"/>
            <a:ext cx="2240280" cy="5410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time, floor and zone subsets.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35624" y="1382268"/>
            <a:ext cx="2551176" cy="1453896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35624" y="1382268"/>
            <a:ext cx="64008" cy="145389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83880" y="1537716"/>
            <a:ext cx="347472" cy="3780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291072" y="1537716"/>
            <a:ext cx="1819656" cy="3780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Alert volume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91072" y="2007169"/>
            <a:ext cx="2240280" cy="5410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thresholds for reviewable output.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938528" y="3094634"/>
            <a:ext cx="5266944" cy="58155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38528" y="3094634"/>
            <a:ext cx="64008" cy="581558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093976" y="3131210"/>
            <a:ext cx="1353312" cy="5084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302C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Qualitative review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520440" y="3131210"/>
            <a:ext cx="3529584" cy="5084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cases with operational context.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938528" y="3902354"/>
            <a:ext cx="5266944" cy="710794"/>
          </a:xfrm>
          <a:prstGeom prst="rect">
            <a:avLst/>
          </a:prstGeom>
          <a:solidFill>
            <a:srgbClr val="0B2545"/>
          </a:solidFill>
          <a:ln w="8255">
            <a:solidFill>
              <a:srgbClr val="0B254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048256" y="3957218"/>
            <a:ext cx="5047488" cy="60106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The evaluation asks whether alerts are consistent, explainable and reviewable.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Proposal pp. 2-4, 12-13</a:t>
            </a:r>
            <a:endParaRPr lang="en-US" sz="900" dirty="0"/>
          </a:p>
        </p:txBody>
      </p:sp>
      <p:sp>
        <p:nvSpPr>
          <p:cNvPr id="35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The highest risks are knowable early</a:t>
            </a:r>
            <a:endParaRPr lang="en-US" sz="26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first, then model.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16813" y="1382268"/>
            <a:ext cx="7110374" cy="2384389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graphicFrame>
        <p:nvGraphicFramePr>
          <p:cNvPr id="11" name="Editable chart: The highest risks are knowable early" descr="Editable bar chart for The highest risks are knowable early."/>
          <p:cNvGraphicFramePr/>
          <p:nvPr/>
        </p:nvGraphicFramePr>
        <p:xfrm>
          <a:off x="1126541" y="1473708"/>
          <a:ext cx="6890918" cy="2201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3908816"/>
            <a:ext cx="8229600" cy="7043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support:chart-register"/>
          <p:cNvSpPr txBox="1"/>
          <p:nvPr/>
        </p:nvSpPr>
        <p:spPr>
          <a:xfrm>
            <a:off x="548640" y="4057592"/>
            <a:ext cx="8046720" cy="40678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mitigation is earlier evidence and clearer limits.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Proposal p. 7</a:t>
            </a:r>
            <a:endParaRPr lang="en-US" sz="900" dirty="0"/>
          </a:p>
        </p:txBody>
      </p:sp>
      <p:sp>
        <p:nvSpPr>
          <p:cNvPr id="16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990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Deliverables turn the prototype into evidence</a:t>
            </a:r>
            <a:endParaRPr lang="en-US" sz="26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120091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grouped for assessment.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54838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16380"/>
            <a:ext cx="777240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2" name="role-contract-slot:evidence:0"/>
          <p:cNvSpPr/>
          <p:nvPr/>
        </p:nvSpPr>
        <p:spPr>
          <a:xfrm>
            <a:off x="457200" y="1877568"/>
            <a:ext cx="4023360" cy="928878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77568"/>
            <a:ext cx="54864" cy="92887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1987296"/>
            <a:ext cx="3694176" cy="7094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Build artifacts · D1 pipeline, D2 patterns and D3 model comparison.</a:t>
            </a:r>
            <a:endParaRPr lang="en-US" sz="1500" dirty="0"/>
          </a:p>
        </p:txBody>
      </p:sp>
      <p:sp>
        <p:nvSpPr>
          <p:cNvPr id="15" name="role-contract-slot:evidence:1"/>
          <p:cNvSpPr/>
          <p:nvPr/>
        </p:nvSpPr>
        <p:spPr>
          <a:xfrm>
            <a:off x="4663440" y="1877568"/>
            <a:ext cx="4023360" cy="928878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877568"/>
            <a:ext cx="54864" cy="928878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28032" y="1987296"/>
            <a:ext cx="3694176" cy="7094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Interpretation artifacts · D4 visualisation and D5 prioritisation framework.</a:t>
            </a:r>
            <a:endParaRPr lang="en-US" sz="1500" dirty="0"/>
          </a:p>
        </p:txBody>
      </p:sp>
      <p:sp>
        <p:nvSpPr>
          <p:cNvPr id="18" name="role-contract-slot:evidence:2"/>
          <p:cNvSpPr/>
          <p:nvPr/>
        </p:nvSpPr>
        <p:spPr>
          <a:xfrm>
            <a:off x="457200" y="2952750"/>
            <a:ext cx="4023360" cy="928878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52750"/>
            <a:ext cx="54864" cy="92887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3062478"/>
            <a:ext cx="3694176" cy="7094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Handover artifacts · D6 technical report and D7 reproducible package.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Proposal pp. 12-13</a:t>
            </a:r>
            <a:endParaRPr lang="en-US" sz="900" dirty="0"/>
          </a:p>
        </p:txBody>
      </p:sp>
      <p:sp>
        <p:nvSpPr>
          <p:cNvPr id="23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depends on reproducibility, validity and interpretability.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The 10-week plan reduces uncertainty</a:t>
            </a:r>
            <a:endParaRPr lang="en-US" sz="26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confidence comes before handover.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042111"/>
            <a:ext cx="2377440" cy="3109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1053084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1382268"/>
            <a:ext cx="6912864" cy="2326234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graphicFrame>
        <p:nvGraphicFramePr>
          <p:cNvPr id="13" name="Editable chart: The 10-week plan reduces uncertainty" descr="Editable bar chart for The 10-week plan reduces uncertainty."/>
          <p:cNvGraphicFramePr/>
          <p:nvPr/>
        </p:nvGraphicFramePr>
        <p:xfrm>
          <a:off x="1225296" y="1473708"/>
          <a:ext cx="6693408" cy="21433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3966972"/>
            <a:ext cx="8229600" cy="64617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support:chart-register"/>
          <p:cNvSpPr txBox="1"/>
          <p:nvPr/>
        </p:nvSpPr>
        <p:spPr>
          <a:xfrm>
            <a:off x="548640" y="4021836"/>
            <a:ext cx="8046720" cy="536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Week 10, the team should explain what the prototype detects, how reliable it is, and where it should not be overused.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Proposal pp. 13-14</a:t>
            </a:r>
            <a:endParaRPr lang="en-US" sz="900" dirty="0"/>
          </a:p>
        </p:txBody>
      </p:sp>
      <p:sp>
        <p:nvSpPr>
          <p:cNvPr id="18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3024</Words>
  <Application>WPS Spreadsheets</Application>
  <PresentationFormat>On-screen Show (16:9)</PresentationFormat>
  <Paragraphs>190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Helvetica Neue</vt:lpstr>
      <vt:lpstr>Calibri</vt:lpstr>
      <vt:lpstr>Calibri</vt:lpstr>
      <vt:lpstr>Trebuchet MS</vt:lpstr>
      <vt:lpstr>Trebuchet MS</vt:lpstr>
      <vt:lpstr>Trebuchet MS</vt:lpstr>
      <vt:lpstr>Arial</vt:lpstr>
      <vt:lpstr>Calibri</vt:lpstr>
      <vt:lpstr>微软雅黑</vt:lpstr>
      <vt:lpstr>汉仪旗黑</vt:lpstr>
      <vt:lpstr>宋体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Smart-Building Log Analysis</dc:title>
  <dc:creator>Presentation Team</dc:creator>
  <dc:subject>10-minute academic project proposal brief</dc:subject>
  <cp:lastModifiedBy>随心所欲</cp:lastModifiedBy>
  <cp:revision>2</cp:revision>
  <dcterms:created xsi:type="dcterms:W3CDTF">2026-08-31T14:15:25Z</dcterms:created>
  <dcterms:modified xsi:type="dcterms:W3CDTF">2026-08-31T14:15:25Z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B164EAF8BD1B22B67D8C956A350E6C13_42</vt:lpwstr>
  </property>
  <property fmtid="{D5CDD505-2E9C-101B-9397-08002B2CF9AE}" pid="3" name="KSOProductBuildVer">
    <vt:lpwstr>1033-7.2.2.8955</vt:lpwstr>
  </property>
</Properties>
</file>